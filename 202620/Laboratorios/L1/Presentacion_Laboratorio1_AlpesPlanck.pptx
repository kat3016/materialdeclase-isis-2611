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480560"/>
            <a:ext cx="12191695" cy="2377440"/>
          </a:xfrm>
          <a:prstGeom prst="rect">
            <a:avLst/>
          </a:prstGeom>
          <a:solidFill>
            <a:srgbClr val="2E5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F0FA"/>
                </a:solidFill>
                <a:latin typeface="Calibri"/>
              </a:rPr>
              <a:t>ISIS-2611 · INTELIGENCIA ARTIFICIAL /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Laboratorio 1: Exploración, preparación y regresión lineal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PREDICCIÓN DE LA</a:t>
            </a:r>
          </a:p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TEMPERATURA MÁXIMA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00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E8F0FA"/>
                </a:solidFill>
                <a:latin typeface="Calibri"/>
              </a:rPr>
              <a:t>Caso AlpesPlanck — Estación meteorológica de Jena, Alemania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Integrantes: Nikol Katherin Rodríguez Ortiz · Carlos Medina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ÍNDICE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B2A4A"/>
                </a:solidFill>
                <a:latin typeface="Calibri"/>
              </a:rPr>
              <a:t>01   Introducción y contexto</a:t>
            </a:r>
          </a:p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B2A4A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B2A4A"/>
                </a:solidFill>
                <a:latin typeface="Calibri"/>
              </a:rPr>
              <a:t>02   Equipo de trabajo</a:t>
            </a:r>
          </a:p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B2A4A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B2A4A"/>
                </a:solidFill>
                <a:latin typeface="Calibri"/>
              </a:rPr>
              <a:t>03   Objetivo del proyecto</a:t>
            </a:r>
          </a:p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B2A4A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B2A4A"/>
                </a:solidFill>
                <a:latin typeface="Calibri"/>
              </a:rPr>
              <a:t>04   Entendimiento y calidad de los datos</a:t>
            </a:r>
          </a:p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B2A4A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B2A4A"/>
                </a:solidFill>
                <a:latin typeface="Calibri"/>
              </a:rPr>
              <a:t>05   Preparación e ingeniería de características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5544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B2A4A"/>
                </a:solidFill>
                <a:latin typeface="Calibri"/>
              </a:rPr>
              <a:t>06   Modelos construidos</a:t>
            </a:r>
          </a:p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B2A4A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B2A4A"/>
                </a:solidFill>
                <a:latin typeface="Calibri"/>
              </a:rPr>
              <a:t>07   Resultados y comparación</a:t>
            </a:r>
          </a:p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B2A4A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B2A4A"/>
                </a:solidFill>
                <a:latin typeface="Calibri"/>
              </a:rPr>
              <a:t>08   Supuestos e importancia de variables</a:t>
            </a:r>
          </a:p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B2A4A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B2A4A"/>
                </a:solidFill>
                <a:latin typeface="Calibri"/>
              </a:rPr>
              <a:t>09   Conclusiones y recomendación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Introducción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555555"/>
                </a:solidFill>
                <a:latin typeface="Calibri"/>
              </a:rPr>
              <a:t>El Instituto AlpesPlanck de Biogeoquímica registra variables meteorológicas cada 10 minutos en su estación de Jena, Alemania, desde 2003.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555555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555555"/>
                </a:solidFill>
                <a:latin typeface="Calibri"/>
              </a:rPr>
              <a:t>Nos contrataron para predecir la temperatura máxima del día siguiente e identificar las variables meteorológicas que más aportan a esa predicción, con el fin de diseñar estrategias que permitan mitigar problemas como incendios forestales o complicaciones relacionadas con fenómenos como "El Niño" o "La Niña".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Ciclo de trabajo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463040"/>
            <a:ext cx="822960" cy="822960"/>
          </a:xfrm>
          <a:prstGeom prst="ellipse">
            <a:avLst/>
          </a:prstGeom>
          <a:solidFill>
            <a:srgbClr val="2E5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417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Inicio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920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Carga de los datos y exploración: 2.576 días (2009–2015), detección de 9 problemas de calidad (H1–H9).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017520"/>
            <a:ext cx="822960" cy="822960"/>
          </a:xfrm>
          <a:prstGeom prst="ellipse">
            <a:avLst/>
          </a:prstGeom>
          <a:solidFill>
            <a:srgbClr val="2E5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971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Desarrollo del trabajo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Limpieza, ingeniería de características y construcción de 6 modelos de regresión lineal dentro de un Pipeline.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572000"/>
            <a:ext cx="822960" cy="822960"/>
          </a:xfrm>
          <a:prstGeom prst="ellipse">
            <a:avLst/>
          </a:prstGeom>
          <a:solidFill>
            <a:srgbClr val="2E5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4526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Resultados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5029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Mejor modelo con RMSE 3,56 °C y R² = 0,84; predicciones entregadas sobre los 364 días de 2016.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Equipo de trabajo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1645920"/>
            <a:ext cx="4389120" cy="137160"/>
          </a:xfrm>
          <a:prstGeom prst="rect">
            <a:avLst/>
          </a:prstGeom>
          <a:solidFill>
            <a:srgbClr val="2E5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2A4A"/>
                </a:solidFill>
                <a:latin typeface="Calibri"/>
              </a:rPr>
              <a:t>Nikol Katherin</a:t>
            </a:r>
          </a:p>
          <a:p>
            <a:pPr algn="l"/>
            <a:r>
              <a:rPr sz="2200" b="1" i="0">
                <a:solidFill>
                  <a:srgbClr val="1B2A4A"/>
                </a:solidFill>
                <a:latin typeface="Calibri"/>
              </a:rPr>
              <a:t>Rodríguez Ortiz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83464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55555"/>
                </a:solidFill>
                <a:latin typeface="Calibri"/>
              </a:rPr>
              <a:t>Exploración y calidad de datos, preparación, verificación de los supuestos de la regresión.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59" y="1645920"/>
            <a:ext cx="4389120" cy="137160"/>
          </a:xfrm>
          <a:prstGeom prst="rect">
            <a:avLst/>
          </a:prstGeom>
          <a:solidFill>
            <a:srgbClr val="2E5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59" y="192024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2A4A"/>
                </a:solidFill>
                <a:latin typeface="Calibri"/>
              </a:rPr>
              <a:t>Carlos Medina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59" y="283464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55555"/>
                </a:solidFill>
                <a:latin typeface="Calibri"/>
              </a:rPr>
              <a:t>Ingeniería de características, construcción y comparación de modelos, interpretación de resultados.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Objetivo general e impacto esperado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37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" b="0" i="0">
                <a:solidFill>
                  <a:srgbClr val="1B2A4A"/>
                </a:solidFill>
                <a:latin typeface="Calibri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73152" cy="1920240"/>
          </a:xfrm>
          <a:prstGeom prst="rect">
            <a:avLst/>
          </a:prstGeom>
          <a:solidFill>
            <a:srgbClr val="2E5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00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5CA6"/>
                </a:solidFill>
                <a:latin typeface="Calibri"/>
              </a:rPr>
              <a:t>Objetivo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55555"/>
                </a:solidFill>
                <a:latin typeface="Calibri"/>
              </a:rPr>
              <a:t>Construir un modelo de regresión lineal que estime la temperatura máxima del día siguiente y determine las variables meteorológicas más relevantes para esa predicción.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645920"/>
            <a:ext cx="73152" cy="19202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00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7D32"/>
                </a:solidFill>
                <a:latin typeface="Calibri"/>
              </a:rPr>
              <a:t>Impacto esperado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574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55555"/>
                </a:solidFill>
                <a:latin typeface="Calibri"/>
              </a:rPr>
              <a:t>Apoyar el diseño de estrategias de mitigación de incendios forestales y de fenómenos meteorológicos como El Niño y La Niña.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Objetivos específicos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55448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664207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55555"/>
                </a:solidFill>
                <a:latin typeface="Calibri"/>
              </a:rPr>
              <a:t>Aplicar y comprender un modelo de regresión lineal, verificando sus supuestos.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97180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081528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55555"/>
                </a:solidFill>
                <a:latin typeface="Calibri"/>
              </a:rPr>
              <a:t>Determinar las principales variables meteorológicas que permiten la predicción.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438912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498848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55555"/>
                </a:solidFill>
                <a:latin typeface="Calibri"/>
              </a:rPr>
              <a:t>Reconocer los posibles sesgos del modelo y comunicar los resultados de forma clara.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Calidad de los datos</a:t>
            </a:r>
          </a:p>
        </p:txBody>
      </p:sp>
      <p:pic>
        <p:nvPicPr>
          <p:cNvPr id="4" name="Picture 3" descr="nu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366959"/>
            <a:ext cx="6949440" cy="39412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53212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555555"/>
                </a:solidFill>
                <a:latin typeface="Calibri"/>
              </a:rPr>
              <a:t>Completitud: ninguna columna está completa (2,4%–3,7% de nulos por variable)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234440"/>
            <a:ext cx="3840480" cy="2057400"/>
          </a:xfrm>
          <a:prstGeom prst="rect">
            <a:avLst/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umed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490808"/>
            <a:ext cx="3657600" cy="113318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63840" y="27889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Validez: 776 filas con humedad en escala 0–1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3429000"/>
            <a:ext cx="3840480" cy="2057400"/>
          </a:xfrm>
          <a:prstGeom prst="rect">
            <a:avLst/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tipic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3786935"/>
            <a:ext cx="3657600" cy="9300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63840" y="49834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Atipicidad: outliers bajos, coherentes con clima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Preparación e ingeniería de características</a:t>
            </a:r>
          </a:p>
        </p:txBody>
      </p:sp>
      <p:pic>
        <p:nvPicPr>
          <p:cNvPr id="4" name="Picture 3" descr="cos_d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427851"/>
            <a:ext cx="5577840" cy="18194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5544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555555"/>
                </a:solidFill>
              </a:rPr>
              <a:t>•  Limpieza determinista por fila: corrige Fahrenheit, escala ×10, km/h y deriva categorías desde columnas numéricas.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555555"/>
                </a:solidFill>
              </a:rPr>
              <a:t>•  El Pipeline de scikit-learn imputa, escala y codifica usando solo el conjunto de entrenamiento (sin fuga de datos).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555555"/>
                </a:solidFill>
              </a:rPr>
              <a:t>•  La ingeniería de características más importante: codificar el día del año como coseno del ciclo anual.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555555"/>
                </a:solidFill>
              </a:rPr>
              <a:t>•  La correlación con la temperatura pasa de r = 0,166 (crudo) a r = −0,773 (codificado).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Modelos comparados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554480"/>
          <a:ext cx="10332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6544"/>
                <a:gridCol w="2066544"/>
                <a:gridCol w="2066544"/>
                <a:gridCol w="2066544"/>
                <a:gridCol w="2066544"/>
              </a:tblGrid>
              <a:tr h="731520"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M0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M1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M2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M5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B2A4A"/>
                          </a:solidFill>
                        </a:rPr>
                        <a:t>Limpieza (H1–H9)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B2A4A"/>
                          </a:solidFill>
                        </a:rPr>
                        <a:t>Ingeniería de características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B2A4A"/>
                          </a:solidFill>
                        </a:rPr>
                        <a:t>Regularización (Lasso) + interacciones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6634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Los 6 modelos comparten el mismo algoritmo lineal; lo único que cambia es la estrategia de preparación de los datos. M0 (sin limpieza) obtiene R² negativo; M5 (todo lo anterior) alcanza R² = 0,84.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Resultados: tabla comparativa</a:t>
            </a:r>
          </a:p>
        </p:txBody>
      </p:sp>
      <p:pic>
        <p:nvPicPr>
          <p:cNvPr id="4" name="Picture 3" descr="comparacion_mode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98544"/>
            <a:ext cx="11247120" cy="24951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3492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2A4A"/>
                </a:solidFill>
                <a:latin typeface="Calibri"/>
              </a:rPr>
              <a:t>Mejor modelo: M5 (limpieza + ingeniería + interacciones + Lasso) — RMSE = 3,56 °C · MAE = 2,83 °C · R² = 0,84.   El 94% de la mejora total vino de la preparación de los datos, no del algoritmo.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Supuestos e importancia de variables</a:t>
            </a:r>
          </a:p>
        </p:txBody>
      </p:sp>
      <p:pic>
        <p:nvPicPr>
          <p:cNvPr id="4" name="Picture 3" descr="importa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801" y="1280160"/>
            <a:ext cx="9371917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70916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>
                <a:solidFill>
                  <a:srgbClr val="555555"/>
                </a:solidFill>
              </a:rPr>
              <a:t>•  Se cumplen: normalidad, independencia y media cero de los residuos.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555555"/>
                </a:solidFill>
              </a:rPr>
              <a:t>•  No se cumplen: homocedasticidad y ausencia de multicolinealidad (se interpretan magnitud y signo, no significancia).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555555"/>
                </a:solidFill>
              </a:rPr>
              <a:t>•  Variable más importante: el ciclo estacional (cos_doy), seguido del viento del norte y la oscilación de humedad.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Hallazgos clave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3520440" cy="1600200"/>
          </a:xfrm>
          <a:prstGeom prst="rect">
            <a:avLst/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481328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Calidad de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96596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9 problemas detectados y corregidos; 94% de la mejora del modelo.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371600"/>
            <a:ext cx="3520440" cy="1600200"/>
          </a:xfrm>
          <a:prstGeom prst="rect">
            <a:avLst/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481328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Ingeniería de características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96596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Codificación cíclica: r pasa de 0,17 a −0,77.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59" y="1371600"/>
            <a:ext cx="3520440" cy="1600200"/>
          </a:xfrm>
          <a:prstGeom prst="rect">
            <a:avLst/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39" y="1481328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Mejor modelo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39" y="196596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M5 — RMSE 3,56 °C, R² = 0,84.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00400"/>
            <a:ext cx="3520440" cy="1600200"/>
          </a:xfrm>
          <a:prstGeom prst="rect">
            <a:avLst/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310128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Supuestos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79476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Normalidad e independencia se cumplen; homocedasticidad y multicolinealidad no.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200400"/>
            <a:ext cx="3520440" cy="1600200"/>
          </a:xfrm>
          <a:prstGeom prst="rect">
            <a:avLst/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3310128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Variable más importante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79476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Ciclo estacional (cos_doy), seguido del viento del norte.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59" y="3200400"/>
            <a:ext cx="3520440" cy="1600200"/>
          </a:xfrm>
          <a:prstGeom prst="rect">
            <a:avLst/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39" y="3310128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Sesgos identificados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39" y="379476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  <a:latin typeface="Calibri"/>
              </a:rPr>
              <a:t>Sesgo geográfico/temporal y sesgo de medición/preparación.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Conclusiones y recomendación</a:t>
            </a:r>
          </a:p>
        </p:txBody>
      </p:sp>
      <p:sp>
        <p:nvSpPr>
          <p:cNvPr id="4" name="Chevron 3"/>
          <p:cNvSpPr/>
          <p:nvPr/>
        </p:nvSpPr>
        <p:spPr>
          <a:xfrm>
            <a:off x="822960" y="1645920"/>
            <a:ext cx="822960" cy="640080"/>
          </a:xfrm>
          <a:prstGeom prst="chevron">
            <a:avLst/>
          </a:prstGeom>
          <a:solidFill>
            <a:srgbClr val="2E5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155448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  <a:latin typeface="Calibri"/>
              </a:rPr>
              <a:t>La preparación de los datos aportó el 94% de la mejora total.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057400"/>
            <a:ext cx="9326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55555"/>
                </a:solidFill>
                <a:latin typeface="Calibri"/>
              </a:rPr>
              <a:t>Los 6 modelos son igualmente regresiones lineales: la diferencia estuvo en la calidad de los datos.</a:t>
            </a:r>
          </a:p>
        </p:txBody>
      </p:sp>
      <p:sp>
        <p:nvSpPr>
          <p:cNvPr id="7" name="Chevron 6"/>
          <p:cNvSpPr/>
          <p:nvPr/>
        </p:nvSpPr>
        <p:spPr>
          <a:xfrm>
            <a:off x="822960" y="3474720"/>
            <a:ext cx="822960" cy="640080"/>
          </a:xfrm>
          <a:prstGeom prst="chevron">
            <a:avLst/>
          </a:prstGeom>
          <a:solidFill>
            <a:srgbClr val="2E5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3383279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  <a:latin typeface="Calibri"/>
              </a:rPr>
              <a:t>Recomendación de mayor impacto para AlpesPlanck.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3886200"/>
            <a:ext cx="9326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55555"/>
                </a:solidFill>
                <a:latin typeface="Calibri"/>
              </a:rPr>
              <a:t>Incorporar la temperatura del día actual como predictor — hoy ausente del conjunto de datos — reduciría el error muy por debajo del nivel actual.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¡GRACIAS POR SU ATENCIÓN!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8F0FA"/>
                </a:solidFill>
                <a:latin typeface="Calibri"/>
              </a:rPr>
              <a:t>ISIS-2611 · Laboratorio 1 · Caso AlpesPlanck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Nikol Katherin Rodríguez Ortiz  ·  Carlos Medina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